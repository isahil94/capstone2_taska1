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5" r:id="rId2"/>
    <p:sldId id="347" r:id="rId3"/>
    <p:sldId id="348" r:id="rId4"/>
    <p:sldId id="261" r:id="rId5"/>
    <p:sldId id="3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FE6E8-913F-477C-83BD-F4BBCDA7F17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9427B-43B8-49A8-972D-305BBB6C3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4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99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392E-8F16-EBE3-57F9-38BE78E00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1D60C-1C97-3046-2362-413C4DDBA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2984F-E04F-F499-84E7-C947B2C5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F52AB-67B1-DC35-A012-6B77CC53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62D7-B77E-9933-88AE-AE06C680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3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B1A5-6EEA-383E-2C37-A87AD607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24F35-BA9F-B411-4FD0-521F91889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F9EE-4A4B-C550-CC12-AC42EF89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6394-743C-A039-FFD8-E7995589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0BB2-412C-1AF6-95FB-1EFE150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5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5AC9-7A98-99C4-018D-9D2329DD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41982-39F8-A223-6F5B-14427C88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5414-D83D-D42E-35D6-D438375E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EDD65-B5D3-357D-F353-752E1838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9D30-F0F1-1DAD-45AE-8213BFE2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6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678C-F357-2347-32F9-5BBC14D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F2BC-5CDE-04A5-BA31-2D51B7D03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6CBE7-230C-663A-FD87-F5676420C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6F2D4-F513-9208-8CAA-0E7036D7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94D8-09F5-D71D-1CC2-96E74A41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ED6C8-E399-90E5-2806-4E316C26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2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C315-8822-C472-06FA-ABFB834E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A6212-A98E-24F1-EC01-A1312AAC8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312D0-7DE8-0C85-C545-25190768C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EBC78-AF7D-3BA3-9BC8-EBEAF2990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004FE-03B5-00B3-A820-536F31DBA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B2053-7689-BD9B-68CA-7882F2F4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C79BA-8CD1-B10F-1D5B-A5AE18B0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C74D0-ED50-A25E-D2F4-5863BF90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26BC-52E9-B4B6-D8D3-CAE5C97B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FE341-6899-E976-CDAA-FC29A7B5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4ACB5-ACC8-DA08-3030-D538F577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67870-EC78-63DA-0E28-0CBDC678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6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BCBEB-9753-1F6E-E748-874777CB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4247A-0C1E-C65C-08BE-D38FEDA1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1E8E2-CF4F-0C75-647B-0E56FA3B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0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32A1-8BBF-40BA-6CFA-747826A1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7B9B-2931-9239-612C-196D9768A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5F000-FF2D-4378-AC6E-F756FF1F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2AB9A-C5A7-8E03-81C1-EDCF7198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92BE1-DA7C-3068-BEBD-2D71A35B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15C4C-FF4E-B2C0-51B0-EBFA71F6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0065-768B-85DA-1A08-B6660FE9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A3688-7845-90CF-8EE3-B017DD68A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241E0-02BE-1807-5555-8CC1BBD66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81A0C-311D-592C-C5B5-6F9CFD3B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F0CD-7BF8-0CA7-DEEB-B91EC033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F77C2-11B8-DCB5-8035-045BCC7A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3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DF32-B64E-7A54-8BE8-0CF2F4C0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470D9-EACB-1734-B0DD-AC149A51B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D5764-7C02-F868-F725-CBC5521C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0CD6-79E2-6135-0420-B31BF422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12F6-C20C-6546-3B8E-F00F7B32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1471-08F4-4BBD-C81D-F05C7303C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343E-1249-5623-0491-F3FADCDE6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5DCE8-7E2C-5C48-AA92-25E01B39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C7A3-D0B5-5653-F77E-1E73D0FA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852F-4C8E-D69F-3885-4456C187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4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13877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E5153B7-D01B-D680-EABA-6221117FE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CDBC5E-8ABF-48D8-303A-4BE1FC492FF7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51513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2091739"/>
            <a:ext cx="488499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55A4DC-723C-37A0-1C1B-16C967809C6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32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FBAE40"/>
          </p15:clr>
        </p15:guide>
        <p15:guide id="2" pos="393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F46AD-E90B-385A-F9E2-3128AA86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BB076-A98D-315C-C509-8007BDC2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AED08-D91C-8764-808C-4AAE0BAE1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86423-AB14-4630-BCF5-574572353D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168EF-E24E-6DF7-533D-B084A66C5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BC6E2-C6E1-0971-379C-264E6BF20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890EA-26C2-4C9A-938C-3EEC59B4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8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blue and white background&#10;&#10;Description automatically generated">
            <a:extLst>
              <a:ext uri="{FF2B5EF4-FFF2-40B4-BE49-F238E27FC236}">
                <a16:creationId xmlns:a16="http://schemas.microsoft.com/office/drawing/2014/main" id="{9A2A1F08-46CB-5447-70A5-2D65CDF8ECE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Picture Placeholder 15" descr="A close-up of a glass sculpture&#10;&#10;AI-generated content may be incorrect.">
            <a:extLst>
              <a:ext uri="{FF2B5EF4-FFF2-40B4-BE49-F238E27FC236}">
                <a16:creationId xmlns:a16="http://schemas.microsoft.com/office/drawing/2014/main" id="{EAEB774F-F6CE-F927-9002-C29845CE5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732AD5B6-709D-517A-139C-501E37E0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2278051"/>
            <a:ext cx="6107230" cy="1495794"/>
          </a:xfrm>
        </p:spPr>
        <p:txBody>
          <a:bodyPr/>
          <a:lstStyle/>
          <a:p>
            <a:r>
              <a:rPr lang="en-US" sz="3600" b="1" dirty="0">
                <a:ea typeface="Georgia" pitchFamily="34" charset="-122"/>
                <a:cs typeface="Georgia" pitchFamily="34" charset="-120"/>
              </a:rPr>
              <a:t>Capstone 2-</a:t>
            </a:r>
            <a:br>
              <a:rPr lang="en-US" sz="3600" b="1" dirty="0">
                <a:ea typeface="Georgia" pitchFamily="34" charset="-122"/>
                <a:cs typeface="Georgia" pitchFamily="34" charset="-120"/>
              </a:rPr>
            </a:br>
            <a:r>
              <a:rPr lang="en-US" sz="3600" b="1" dirty="0">
                <a:ea typeface="Georgia" pitchFamily="34" charset="-122"/>
                <a:cs typeface="Georgia" pitchFamily="34" charset="-120"/>
              </a:rPr>
              <a:t>Build &amp; Ship an Agentic Solution</a:t>
            </a:r>
            <a:endParaRPr lang="en-US" sz="3600" dirty="0"/>
          </a:p>
        </p:txBody>
      </p:sp>
      <p:sp>
        <p:nvSpPr>
          <p:cNvPr id="16" name="August 2023">
            <a:extLst>
              <a:ext uri="{FF2B5EF4-FFF2-40B4-BE49-F238E27FC236}">
                <a16:creationId xmlns:a16="http://schemas.microsoft.com/office/drawing/2014/main" id="{CC4D2382-4C79-F8AB-683D-9DE735E9BADC}"/>
              </a:ext>
            </a:extLst>
          </p:cNvPr>
          <p:cNvSpPr/>
          <p:nvPr/>
        </p:nvSpPr>
        <p:spPr>
          <a:xfrm>
            <a:off x="822960" y="4875984"/>
            <a:ext cx="1382712" cy="393682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 defTabSz="2438338">
              <a:spcBef>
                <a:spcPts val="0"/>
              </a:spcBef>
              <a:defRPr sz="2000" spc="39">
                <a:solidFill>
                  <a:srgbClr val="FFFFFF"/>
                </a:solidFill>
                <a:latin typeface="Heebo Regular Light"/>
                <a:ea typeface="Heebo Regular Light"/>
                <a:cs typeface="Heebo Regular Light"/>
                <a:sym typeface="Heebo Regular Light"/>
              </a:defRPr>
            </a:lvl1pPr>
          </a:lstStyle>
          <a:p>
            <a:r>
              <a:rPr lang="en-US" sz="1100" dirty="0">
                <a:solidFill>
                  <a:schemeClr val="tx1"/>
                </a:solidFill>
                <a:latin typeface="+mn-lt"/>
              </a:rPr>
              <a:t>June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53711D6-E623-9EFD-61AE-C9CFFDB8F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4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414528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kern="0" spc="267" dirty="0">
                <a:solidFill>
                  <a:srgbClr val="4338CA"/>
                </a:solidFill>
                <a:ea typeface="Calibri" pitchFamily="34" charset="-122"/>
                <a:cs typeface="Calibri" pitchFamily="34" charset="-120"/>
              </a:rPr>
              <a:t>TRACK B · AGENTIC BUSINESS SOLUTION</a:t>
            </a:r>
            <a:endParaRPr lang="en-US" sz="1467" dirty="0"/>
          </a:p>
        </p:txBody>
      </p:sp>
      <p:sp>
        <p:nvSpPr>
          <p:cNvPr id="3" name="Text 1"/>
          <p:cNvSpPr/>
          <p:nvPr/>
        </p:nvSpPr>
        <p:spPr>
          <a:xfrm>
            <a:off x="60960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Talk-to-Your-Data Insight Agent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9387840" y="414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kern="0" spc="267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HEXAWARE</a:t>
            </a:r>
            <a:endParaRPr lang="en-US" sz="1333" dirty="0"/>
          </a:p>
        </p:txBody>
      </p:sp>
      <p:sp>
        <p:nvSpPr>
          <p:cNvPr id="5" name="Text 3"/>
          <p:cNvSpPr/>
          <p:nvPr/>
        </p:nvSpPr>
        <p:spPr>
          <a:xfrm>
            <a:off x="670560" y="1560576"/>
            <a:ext cx="1097280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Business problem: business users wait days on the analytics team for answers locked in the data warehouse. Build an agentic system that turns a plain-English question — “why did margin drop in the Northeast last quarter, and which products drove it?” — into a correct, charted, trustworthy answer in seconds, against governed tables.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0560" y="2743200"/>
            <a:ext cx="5486400" cy="3840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  <a:effectLst>
            <a:outerShdw blurRad="101600" dist="38100" dir="8100000" algn="bl" rotWithShape="0">
              <a:srgbClr val="1A1B4B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14400" y="2877312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Agent team (LangGraph supervisor)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950976" y="3389376"/>
            <a:ext cx="463296" cy="463296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" y="3486912"/>
            <a:ext cx="268224" cy="268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60576" y="336499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Planner  </a:t>
            </a:r>
            <a:r>
              <a:rPr lang="en-US" sz="124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Decomposes the question into a query plan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950976" y="4011168"/>
            <a:ext cx="463296" cy="4632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" y="4108704"/>
            <a:ext cx="268224" cy="2682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60576" y="398678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SQL agent  </a:t>
            </a:r>
            <a:r>
              <a:rPr lang="en-US" sz="124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Generates &amp; runs SQL via governed MCP</a:t>
            </a:r>
            <a:endParaRPr lang="en-US" sz="1440" dirty="0"/>
          </a:p>
        </p:txBody>
      </p:sp>
      <p:sp>
        <p:nvSpPr>
          <p:cNvPr id="14" name="Shape 10"/>
          <p:cNvSpPr/>
          <p:nvPr/>
        </p:nvSpPr>
        <p:spPr>
          <a:xfrm>
            <a:off x="950976" y="4632960"/>
            <a:ext cx="463296" cy="463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12" y="4730496"/>
            <a:ext cx="268224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60576" y="460857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Viz agent  </a:t>
            </a:r>
            <a:r>
              <a:rPr lang="en-US" sz="124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Builds the right chart for the answer</a:t>
            </a:r>
            <a:endParaRPr lang="en-US" sz="1440" dirty="0"/>
          </a:p>
        </p:txBody>
      </p:sp>
      <p:sp>
        <p:nvSpPr>
          <p:cNvPr id="17" name="Shape 12"/>
          <p:cNvSpPr/>
          <p:nvPr/>
        </p:nvSpPr>
        <p:spPr>
          <a:xfrm>
            <a:off x="950976" y="5254752"/>
            <a:ext cx="463296" cy="463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12" y="5352288"/>
            <a:ext cx="26822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60576" y="523036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Validator  </a:t>
            </a:r>
            <a:r>
              <a:rPr lang="en-US" sz="124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Re-derives totals; checks numbers reconcile</a:t>
            </a:r>
            <a:endParaRPr lang="en-US" sz="1440" dirty="0"/>
          </a:p>
        </p:txBody>
      </p:sp>
      <p:sp>
        <p:nvSpPr>
          <p:cNvPr id="20" name="Shape 14"/>
          <p:cNvSpPr/>
          <p:nvPr/>
        </p:nvSpPr>
        <p:spPr>
          <a:xfrm>
            <a:off x="950976" y="5876544"/>
            <a:ext cx="463296" cy="463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512" y="5974080"/>
            <a:ext cx="2682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60576" y="585216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Q&amp;A / narrator  </a:t>
            </a:r>
            <a:r>
              <a:rPr lang="en-US" sz="124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Explains the answer, shows the SQL</a:t>
            </a:r>
            <a:endParaRPr lang="en-US" sz="1440" dirty="0"/>
          </a:p>
        </p:txBody>
      </p:sp>
      <p:sp>
        <p:nvSpPr>
          <p:cNvPr id="23" name="Shape 16"/>
          <p:cNvSpPr/>
          <p:nvPr/>
        </p:nvSpPr>
        <p:spPr>
          <a:xfrm>
            <a:off x="6400800" y="2743200"/>
            <a:ext cx="5120640" cy="3840480"/>
          </a:xfrm>
          <a:prstGeom prst="roundRect">
            <a:avLst>
              <a:gd name="adj" fmla="val 2540"/>
            </a:avLst>
          </a:prstGeom>
          <a:solidFill>
            <a:srgbClr val="1A1B4B"/>
          </a:solidFill>
          <a:ln w="12700">
            <a:solidFill>
              <a:srgbClr val="DCE2F5"/>
            </a:solidFill>
            <a:prstDash val="solid"/>
          </a:ln>
          <a:effectLst>
            <a:outerShdw blurRad="101600" dist="38100" dir="8100000" algn="bl" rotWithShape="0">
              <a:srgbClr val="1A1B4B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18"/>
          <p:cNvSpPr/>
          <p:nvPr/>
        </p:nvSpPr>
        <p:spPr>
          <a:xfrm>
            <a:off x="6644640" y="3209251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LangGraph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supervisor + state + reconcile loop + HITL</a:t>
            </a:r>
            <a:endParaRPr lang="en-US" sz="1413" dirty="0"/>
          </a:p>
        </p:txBody>
      </p:sp>
      <p:sp>
        <p:nvSpPr>
          <p:cNvPr id="26" name="Text 19"/>
          <p:cNvSpPr/>
          <p:nvPr/>
        </p:nvSpPr>
        <p:spPr>
          <a:xfrm>
            <a:off x="6644640" y="3721315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LangChain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SQL toolkit, schema retrievers, parsers</a:t>
            </a:r>
            <a:endParaRPr lang="en-US" sz="1413" dirty="0"/>
          </a:p>
        </p:txBody>
      </p:sp>
      <p:sp>
        <p:nvSpPr>
          <p:cNvPr id="27" name="Text 20"/>
          <p:cNvSpPr/>
          <p:nvPr/>
        </p:nvSpPr>
        <p:spPr>
          <a:xfrm>
            <a:off x="6644640" y="4233379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LiteLLM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route: strong model = plan/validate, cheap = SQL</a:t>
            </a:r>
            <a:endParaRPr lang="en-US" sz="1413" dirty="0"/>
          </a:p>
        </p:txBody>
      </p:sp>
      <p:sp>
        <p:nvSpPr>
          <p:cNvPr id="28" name="Text 21"/>
          <p:cNvSpPr/>
          <p:nvPr/>
        </p:nvSpPr>
        <p:spPr>
          <a:xfrm>
            <a:off x="6644640" y="4745443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Memory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schema/metric store + known-good query pairs</a:t>
            </a:r>
            <a:endParaRPr lang="en-US" sz="1413" dirty="0"/>
          </a:p>
        </p:txBody>
      </p:sp>
      <p:sp>
        <p:nvSpPr>
          <p:cNvPr id="29" name="Text 22"/>
          <p:cNvSpPr/>
          <p:nvPr/>
        </p:nvSpPr>
        <p:spPr>
          <a:xfrm>
            <a:off x="6644640" y="5257507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MCP servers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governed semantic layer (read-only)</a:t>
            </a:r>
            <a:endParaRPr lang="en-US" sz="1413" dirty="0"/>
          </a:p>
        </p:txBody>
      </p:sp>
      <p:sp>
        <p:nvSpPr>
          <p:cNvPr id="30" name="Text 23"/>
          <p:cNvSpPr/>
          <p:nvPr/>
        </p:nvSpPr>
        <p:spPr>
          <a:xfrm>
            <a:off x="6644640" y="5769571"/>
            <a:ext cx="4693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13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LangSmith  —  </a:t>
            </a:r>
            <a:r>
              <a:rPr lang="en-US" sz="1227" dirty="0">
                <a:solidFill>
                  <a:srgbClr val="C7D0FF"/>
                </a:solidFill>
                <a:ea typeface="Calibri" pitchFamily="34" charset="-122"/>
                <a:cs typeface="Calibri" pitchFamily="34" charset="-120"/>
              </a:rPr>
              <a:t>trace SQL &amp; reconciliation; eval set; monitor</a:t>
            </a:r>
            <a:endParaRPr lang="en-US" sz="14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414528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kern="0" spc="267" dirty="0">
                <a:solidFill>
                  <a:srgbClr val="4338CA"/>
                </a:solidFill>
                <a:ea typeface="Calibri" pitchFamily="34" charset="-122"/>
                <a:cs typeface="Calibri" pitchFamily="34" charset="-120"/>
              </a:rPr>
              <a:t>TRACK B · HOW IT RUNS</a:t>
            </a:r>
            <a:endParaRPr lang="en-US" sz="1467" dirty="0"/>
          </a:p>
        </p:txBody>
      </p:sp>
      <p:sp>
        <p:nvSpPr>
          <p:cNvPr id="3" name="Text 1"/>
          <p:cNvSpPr/>
          <p:nvPr/>
        </p:nvSpPr>
        <p:spPr>
          <a:xfrm>
            <a:off x="60960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Flow, Model Routing &amp; Guardrails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9387840" y="414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kern="0" spc="267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HEXAWARE</a:t>
            </a:r>
            <a:endParaRPr lang="en-US" sz="1333" dirty="0"/>
          </a:p>
        </p:txBody>
      </p:sp>
      <p:sp>
        <p:nvSpPr>
          <p:cNvPr id="5" name="Text 3"/>
          <p:cNvSpPr/>
          <p:nvPr/>
        </p:nvSpPr>
        <p:spPr>
          <a:xfrm>
            <a:off x="670560" y="15240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End-to-end flow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70560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Question</a:t>
            </a:r>
            <a:endParaRPr lang="en-US" sz="1227" dirty="0"/>
          </a:p>
        </p:txBody>
      </p:sp>
      <p:sp>
        <p:nvSpPr>
          <p:cNvPr id="8" name="Text 6"/>
          <p:cNvSpPr/>
          <p:nvPr/>
        </p:nvSpPr>
        <p:spPr>
          <a:xfrm>
            <a:off x="2279904" y="1950720"/>
            <a:ext cx="26822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→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2523744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2523744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Plan</a:t>
            </a:r>
            <a:endParaRPr lang="en-US" sz="1227" dirty="0"/>
          </a:p>
        </p:txBody>
      </p:sp>
      <p:sp>
        <p:nvSpPr>
          <p:cNvPr id="11" name="Text 9"/>
          <p:cNvSpPr/>
          <p:nvPr/>
        </p:nvSpPr>
        <p:spPr>
          <a:xfrm>
            <a:off x="4133088" y="1950720"/>
            <a:ext cx="26822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→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4376928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376928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Generate SQL</a:t>
            </a:r>
            <a:endParaRPr lang="en-US" sz="1227" dirty="0"/>
          </a:p>
        </p:txBody>
      </p:sp>
      <p:sp>
        <p:nvSpPr>
          <p:cNvPr id="14" name="Text 12"/>
          <p:cNvSpPr/>
          <p:nvPr/>
        </p:nvSpPr>
        <p:spPr>
          <a:xfrm>
            <a:off x="5986272" y="1950720"/>
            <a:ext cx="26822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→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6230112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230112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Run (MCP)</a:t>
            </a:r>
            <a:endParaRPr lang="en-US" sz="1227" dirty="0"/>
          </a:p>
        </p:txBody>
      </p:sp>
      <p:sp>
        <p:nvSpPr>
          <p:cNvPr id="17" name="Text 15"/>
          <p:cNvSpPr/>
          <p:nvPr/>
        </p:nvSpPr>
        <p:spPr>
          <a:xfrm>
            <a:off x="7839456" y="1950720"/>
            <a:ext cx="26822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→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8083296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083296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Validate</a:t>
            </a:r>
            <a:endParaRPr lang="en-US" sz="1227" dirty="0"/>
          </a:p>
        </p:txBody>
      </p:sp>
      <p:sp>
        <p:nvSpPr>
          <p:cNvPr id="20" name="Text 18"/>
          <p:cNvSpPr/>
          <p:nvPr/>
        </p:nvSpPr>
        <p:spPr>
          <a:xfrm>
            <a:off x="9692640" y="1950720"/>
            <a:ext cx="26822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→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9936480" y="1950720"/>
            <a:ext cx="1633728" cy="707136"/>
          </a:xfrm>
          <a:prstGeom prst="roundRect">
            <a:avLst>
              <a:gd name="adj" fmla="val 1034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936480" y="1950720"/>
            <a:ext cx="163372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7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Chart + answer</a:t>
            </a:r>
            <a:endParaRPr lang="en-US" sz="1227" dirty="0"/>
          </a:p>
        </p:txBody>
      </p:sp>
      <p:sp>
        <p:nvSpPr>
          <p:cNvPr id="23" name="Text 21"/>
          <p:cNvSpPr/>
          <p:nvPr/>
        </p:nvSpPr>
        <p:spPr>
          <a:xfrm>
            <a:off x="670560" y="270662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6D28D9"/>
                </a:solidFill>
                <a:ea typeface="Calibri" pitchFamily="34" charset="-122"/>
                <a:cs typeface="Calibri" pitchFamily="34" charset="-120"/>
              </a:rPr>
              <a:t>↺  validate fails → loop back to regenerate SQL (never ship a wrong number)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670560" y="3230880"/>
            <a:ext cx="5486400" cy="3108960"/>
          </a:xfrm>
          <a:prstGeom prst="roundRect">
            <a:avLst>
              <a:gd name="adj" fmla="val 3137"/>
            </a:avLst>
          </a:prstGeom>
          <a:solidFill>
            <a:srgbClr val="E8ECFF"/>
          </a:solidFill>
          <a:ln w="12700">
            <a:solidFill>
              <a:srgbClr val="DCE2F5"/>
            </a:solidFill>
            <a:prstDash val="solid"/>
          </a:ln>
          <a:effectLst>
            <a:outerShdw blurRad="101600" dist="38100" dir="8100000" algn="bl" rotWithShape="0">
              <a:srgbClr val="1A1B4B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950976" y="3413760"/>
            <a:ext cx="609600" cy="60960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541776"/>
            <a:ext cx="353568" cy="3535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706880" y="3413760"/>
            <a:ext cx="4267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When to use LiteLLM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975360" y="4145280"/>
            <a:ext cx="4937760" cy="213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2000"/>
              </a:lnSpc>
            </a:pPr>
            <a:r>
              <a:rPr lang="en-US" sz="1373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Use it here: </a:t>
            </a:r>
            <a:r>
              <a:rPr lang="en-US" sz="137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mixed models per node — strong model for plan/validate, cheap fast model for SQL — plus provider fallbacks and per-question cost tracking.</a:t>
            </a:r>
            <a:endParaRPr lang="en-US" sz="1373" dirty="0"/>
          </a:p>
          <a:p>
            <a:pPr>
              <a:lnSpc>
                <a:spcPct val="102000"/>
              </a:lnSpc>
            </a:pPr>
            <a:r>
              <a:rPr lang="en-US" sz="1373" b="1" dirty="0">
                <a:solidFill>
                  <a:srgbClr val="F59E0B"/>
                </a:solidFill>
                <a:ea typeface="Calibri" pitchFamily="34" charset="-122"/>
                <a:cs typeface="Calibri" pitchFamily="34" charset="-120"/>
              </a:rPr>
              <a:t>Skip it: </a:t>
            </a:r>
            <a:r>
              <a:rPr lang="en-US" sz="137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one model, one provider, low volume — call the SDK directly and add LiteLLM later when you need routing or fallbacks.</a:t>
            </a:r>
            <a:endParaRPr lang="en-US" sz="1373" dirty="0"/>
          </a:p>
        </p:txBody>
      </p:sp>
      <p:sp>
        <p:nvSpPr>
          <p:cNvPr id="29" name="Shape 26"/>
          <p:cNvSpPr/>
          <p:nvPr/>
        </p:nvSpPr>
        <p:spPr>
          <a:xfrm>
            <a:off x="6400800" y="3230880"/>
            <a:ext cx="5120640" cy="3108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  <a:effectLst>
            <a:outerShdw blurRad="101600" dist="38100" dir="8100000" algn="bl" rotWithShape="0">
              <a:srgbClr val="1A1B4B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7"/>
          <p:cNvSpPr/>
          <p:nvPr/>
        </p:nvSpPr>
        <p:spPr>
          <a:xfrm>
            <a:off x="6681216" y="3413760"/>
            <a:ext cx="609600" cy="609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232" y="3541776"/>
            <a:ext cx="353568" cy="3535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437120" y="3413760"/>
            <a:ext cx="3901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Guardrails &amp; governance</a:t>
            </a: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705600" y="41452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Read-only, certified tables only — via the governed MCP layer</a:t>
            </a:r>
            <a:endParaRPr lang="en-US" sz="13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Metric definitions from the semantic layer, never guessed</a:t>
            </a:r>
            <a:endParaRPr lang="en-US" sz="13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Validator gate: no answer ships unless numbers reconcile</a:t>
            </a:r>
            <a:endParaRPr lang="en-US" sz="13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Row-level security + PII controls enforced at the MCP server</a:t>
            </a:r>
            <a:endParaRPr lang="en-US" sz="13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Every question, SQL &amp; verdict traced for audit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414528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kern="0" spc="267" dirty="0">
                <a:solidFill>
                  <a:srgbClr val="4338CA"/>
                </a:solidFill>
                <a:ea typeface="Calibri" pitchFamily="34" charset="-122"/>
                <a:cs typeface="Calibri" pitchFamily="34" charset="-120"/>
              </a:rPr>
              <a:t>BOTH TRACKS · HOW YOU'RE GRADED</a:t>
            </a:r>
            <a:endParaRPr lang="en-US" sz="1467" dirty="0"/>
          </a:p>
        </p:txBody>
      </p:sp>
      <p:sp>
        <p:nvSpPr>
          <p:cNvPr id="3" name="Text 1"/>
          <p:cNvSpPr/>
          <p:nvPr/>
        </p:nvSpPr>
        <p:spPr>
          <a:xfrm>
            <a:off x="60960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Evaluation Criteria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670560" y="15605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Capstone 2 is judged as much on rigour as on the build. Evaluation has an offline arm (does it work on a known set?) and an online arm (does it stay correct in use?), scored across five weighted dimensions.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0880" y="2352261"/>
            <a:ext cx="5608320" cy="40233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  <a:effectLst>
            <a:outerShdw blurRad="101600" dist="38100" dir="8100000" algn="bl" rotWithShape="0">
              <a:srgbClr val="1A1B4B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474720" y="2498565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A1B4B"/>
                </a:solidFill>
                <a:ea typeface="Georgia" pitchFamily="34" charset="-122"/>
                <a:cs typeface="Georgia" pitchFamily="34" charset="-120"/>
              </a:rPr>
              <a:t>Scoring rubric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5680" y="3083781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Correctness &amp; quality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949440" y="3156933"/>
            <a:ext cx="1158240" cy="316992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168640" y="3083781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30%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535680" y="3729957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Evaluation rigour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6949440" y="3803109"/>
            <a:ext cx="965200" cy="316992"/>
          </a:xfrm>
          <a:prstGeom prst="roundRect">
            <a:avLst>
              <a:gd name="adj" fmla="val 11538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168640" y="3729957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4338CA"/>
                </a:solidFill>
                <a:ea typeface="Calibri" pitchFamily="34" charset="-122"/>
                <a:cs typeface="Calibri" pitchFamily="34" charset="-120"/>
              </a:rPr>
              <a:t>25%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3535680" y="4376133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Architecture &amp; stack use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949440" y="4449285"/>
            <a:ext cx="772160" cy="316992"/>
          </a:xfrm>
          <a:prstGeom prst="roundRect">
            <a:avLst>
              <a:gd name="adj" fmla="val 1153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168640" y="4376133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06B6D4"/>
                </a:solidFill>
                <a:ea typeface="Calibri" pitchFamily="34" charset="-122"/>
                <a:cs typeface="Calibri" pitchFamily="34" charset="-120"/>
              </a:rPr>
              <a:t>20%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535680" y="5022309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Guardrails &amp; governance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949440" y="5095461"/>
            <a:ext cx="579120" cy="316992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168640" y="5022309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59E0B"/>
                </a:solidFill>
                <a:ea typeface="Calibri" pitchFamily="34" charset="-122"/>
                <a:cs typeface="Calibri" pitchFamily="34" charset="-120"/>
              </a:rPr>
              <a:t>15%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3535680" y="5668485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Demo &amp; communication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949440" y="5741637"/>
            <a:ext cx="386080" cy="316992"/>
          </a:xfrm>
          <a:prstGeom prst="roundRect">
            <a:avLst>
              <a:gd name="adj" fmla="val 11538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168640" y="5668485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6D28D9"/>
                </a:solidFill>
                <a:ea typeface="Calibri" pitchFamily="34" charset="-122"/>
                <a:cs typeface="Calibri" pitchFamily="34" charset="-120"/>
              </a:rPr>
              <a:t>10%</a:t>
            </a:r>
            <a:endParaRPr lang="en-US" sz="1467" dirty="0"/>
          </a:p>
        </p:txBody>
      </p:sp>
      <p:sp>
        <p:nvSpPr>
          <p:cNvPr id="38" name="Text 33"/>
          <p:cNvSpPr/>
          <p:nvPr/>
        </p:nvSpPr>
        <p:spPr>
          <a:xfrm>
            <a:off x="670560" y="6496746"/>
            <a:ext cx="1085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6D28D9"/>
                </a:solidFill>
                <a:ea typeface="Calibri" pitchFamily="34" charset="-122"/>
                <a:cs typeface="Calibri" pitchFamily="34" charset="-120"/>
              </a:rPr>
              <a:t>Core metrics:  </a:t>
            </a:r>
            <a:r>
              <a:rPr lang="en-US" sz="1400" i="1" dirty="0">
                <a:solidFill>
                  <a:srgbClr val="1A1B4B"/>
                </a:solidFill>
                <a:ea typeface="Calibri" pitchFamily="34" charset="-122"/>
                <a:cs typeface="Calibri" pitchFamily="34" charset="-120"/>
              </a:rPr>
              <a:t>accuracy vs. baseline · groundedness · reconciliation pass-rate · time-to-answer · cost per query · guardrail-trigger rate.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6E570E-4AB4-C20F-0CAF-EDEFE3C8A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91739"/>
            <a:ext cx="4884999" cy="62324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83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Widescreen</PresentationFormat>
  <Paragraphs>63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Georgia</vt:lpstr>
      <vt:lpstr>Office Theme</vt:lpstr>
      <vt:lpstr>Capstone 2- Build &amp; Ship an Agentic Solution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Shah</dc:creator>
  <cp:lastModifiedBy>Sahil Shah</cp:lastModifiedBy>
  <cp:revision>1</cp:revision>
  <dcterms:created xsi:type="dcterms:W3CDTF">2026-06-25T12:13:22Z</dcterms:created>
  <dcterms:modified xsi:type="dcterms:W3CDTF">2026-06-25T12:13:51Z</dcterms:modified>
</cp:coreProperties>
</file>